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17"/>
  </p:notesMasterIdLst>
  <p:sldIdLst>
    <p:sldId id="257" r:id="rId5"/>
    <p:sldId id="515" r:id="rId6"/>
    <p:sldId id="512" r:id="rId7"/>
    <p:sldId id="516" r:id="rId8"/>
    <p:sldId id="517" r:id="rId9"/>
    <p:sldId id="513" r:id="rId10"/>
    <p:sldId id="518" r:id="rId11"/>
    <p:sldId id="519" r:id="rId12"/>
    <p:sldId id="520" r:id="rId13"/>
    <p:sldId id="521" r:id="rId14"/>
    <p:sldId id="522" r:id="rId15"/>
    <p:sldId id="523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456" autoAdjust="0"/>
  </p:normalViewPr>
  <p:slideViewPr>
    <p:cSldViewPr snapToGrid="0">
      <p:cViewPr varScale="1">
        <p:scale>
          <a:sx n="66" d="100"/>
          <a:sy n="66" d="100"/>
        </p:scale>
        <p:origin x="81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7B4C97-B0AB-415A-87C7-A72C5EB9248F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2B7FA-AB46-4993-BA79-F306F77A20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328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78A79-023C-14C3-F74C-83476C729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8E3341-C161-D7D5-CB13-F00F69B4E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6D79F-C4F3-5B6C-DBA2-C3E8C8192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6D9CB-FF32-6B14-650A-DC7E18F17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2846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u-ds646, month 3</a:t>
            </a:r>
          </a:p>
          <a:p>
            <a:r>
              <a:rPr lang="en-GB" dirty="0"/>
              <a:t>R75+aEVP, no max strength, + smoothing, landfast on (default </a:t>
            </a:r>
            <a:r>
              <a:rPr lang="en-GB" dirty="0" err="1"/>
              <a:t>namelist</a:t>
            </a:r>
            <a:r>
              <a:rPr lang="en-GB" dirty="0"/>
              <a:t> settings)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419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F75DC-6BAA-AD07-9417-8A6E6109D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478DE-8063-B4E9-7347-DD3B3EC79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EF9B2-07B5-F8F1-77A6-6CEB7D35C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Aptos" panose="020B0004020202020204" pitchFamily="34" charset="0"/>
              </a:rPr>
              <a:t>Numerically different results can be produced in this area on either side of the north fold, causing instabilities to build up in the iterative solver of </a:t>
            </a:r>
            <a:r>
              <a:rPr lang="en-GB" sz="1200" dirty="0">
                <a:latin typeface="Consolas" panose="020B0609020204030204" pitchFamily="49" charset="0"/>
              </a:rPr>
              <a:t>icedyn_rhg_evp.F90</a:t>
            </a:r>
            <a:endParaRPr lang="en-GB" sz="12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8756A-CD57-D456-0518-01529F200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631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AD34E-177D-3E68-EC2B-18B69B486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1C09B-7FCF-0BEE-78EC-06975EF98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286D87-1C6C-8C3F-B76F-22ACF638A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u-dt261, month 3</a:t>
            </a:r>
          </a:p>
          <a:p>
            <a:r>
              <a:rPr lang="en-GB" dirty="0"/>
              <a:t>R75+aEVP, no max strength, + smoothing, landfast on (default </a:t>
            </a:r>
            <a:r>
              <a:rPr lang="en-GB" dirty="0" err="1"/>
              <a:t>namelist</a:t>
            </a:r>
            <a:r>
              <a:rPr lang="en-GB" dirty="0"/>
              <a:t> settings) </a:t>
            </a:r>
          </a:p>
          <a:p>
            <a:r>
              <a:rPr lang="en-GB" dirty="0"/>
              <a:t>with </a:t>
            </a:r>
            <a:r>
              <a:rPr lang="en-GB" dirty="0" err="1"/>
              <a:t>ldfull</a:t>
            </a:r>
            <a:r>
              <a:rPr lang="en-GB" dirty="0"/>
              <a:t>=.true. (lines 634 and 741 icedyn_rhg_evp.F90)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D70E2-0724-0DB6-847D-289BD392F3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608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3D45E-C675-6BED-C08A-DC6133891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49F04-E5CE-8CC6-B14B-561708DA8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34872B-EACA-52A0-3EAE-2DE4B9D6B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These are from run u-ds570. </a:t>
            </a:r>
            <a:r>
              <a:rPr lang="en-GB" sz="1200" dirty="0"/>
              <a:t>Point is at </a:t>
            </a:r>
            <a:r>
              <a:rPr lang="en-GB" sz="1200" dirty="0" err="1"/>
              <a:t>i</a:t>
            </a:r>
            <a:r>
              <a:rPr lang="en-GB" sz="1200" dirty="0"/>
              <a:t>=982, j=1180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79C1F-C74E-9BF4-8CC4-4D2C0A0CB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723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3166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F767-18E7-1DE7-0E4E-7ED347BF0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920FD3-80A5-8347-366D-BE330CA7B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912BAF-3D4D-36E3-0E91-FB951BC0D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685800"/>
            <a:r>
              <a:rPr lang="en-GB" sz="1200" dirty="0">
                <a:solidFill>
                  <a:prstClr val="black"/>
                </a:solidFill>
                <a:latin typeface="Aptos" panose="02110004020202020204"/>
              </a:rPr>
              <a:t>GOSI10 default: </a:t>
            </a:r>
            <a:r>
              <a:rPr lang="en-GB" sz="1200" dirty="0" err="1">
                <a:solidFill>
                  <a:prstClr val="black"/>
                </a:solidFill>
                <a:latin typeface="Aptos" panose="02110004020202020204"/>
              </a:rPr>
              <a:t>bathy_metry</a:t>
            </a:r>
            <a:r>
              <a:rPr lang="en-GB" sz="1200" dirty="0">
                <a:solidFill>
                  <a:prstClr val="black"/>
                </a:solidFill>
                <a:latin typeface="Aptos" panose="02110004020202020204"/>
              </a:rPr>
              <a:t> in</a:t>
            </a:r>
          </a:p>
          <a:p>
            <a:pPr defTabSz="685800"/>
            <a:r>
              <a:rPr lang="pt-BR" sz="1200" dirty="0">
                <a:solidFill>
                  <a:prstClr val="black"/>
                </a:solidFill>
                <a:latin typeface="Aptos" panose="02110004020202020204"/>
              </a:rPr>
              <a:t>/data/users/nemo/GOSIdev/GOSI10p3/eORCA025/domain_cfg_MEs_novf_4env_2930_r12_r16-r075-r040-r035_it2-r030.nc</a:t>
            </a:r>
            <a:endParaRPr lang="en-GB" sz="1200" dirty="0">
              <a:solidFill>
                <a:prstClr val="black"/>
              </a:solidFill>
              <a:latin typeface="Aptos" panose="02110004020202020204"/>
            </a:endParaRP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5E5DF-FF38-A950-B5CC-75C8C0FDE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772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C890F-AF78-8342-5605-70C86EC62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C9C72-B089-3968-EAB0-D3FA9CA5B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172FA1-B040-6684-6E05-5C08080B1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Improvement to the consistency between the barotropic time-stepping and the advection of tracers at interfaces between tracer points that have different numbers of levels. 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88A01-B436-AAB1-5AF9-D5E5B7539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85450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A654A-1D54-F0CC-F52B-09F4C798E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21D300-444F-6C87-89B5-A62A9BFF4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8AB135-D424-23C8-1F0E-C8AFD382F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Aptos" panose="020B0004020202020204" pitchFamily="34" charset="0"/>
              </a:rPr>
              <a:t>Numerically different results can be produced in this area on either side of the north fold, causing instabilities to build up in the iterative solver of </a:t>
            </a:r>
            <a:r>
              <a:rPr lang="en-GB" sz="1200" dirty="0">
                <a:latin typeface="Consolas" panose="020B0609020204030204" pitchFamily="49" charset="0"/>
              </a:rPr>
              <a:t>icedyn_rhg_evp.F90</a:t>
            </a:r>
            <a:endParaRPr lang="en-GB" sz="12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C2082-2202-FB00-AF31-2FC569946B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950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1294" cy="51532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000" y="844586"/>
            <a:ext cx="5016036" cy="1011509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2000" y="2129051"/>
            <a:ext cx="4333648" cy="18142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 dirty="0">
                <a:solidFill>
                  <a:schemeClr val="bg2"/>
                </a:solidFill>
              </a:rPr>
              <a:t>www.metoffice.gov.uk	</a:t>
            </a:r>
            <a:endParaRPr lang="en-GB" sz="800" dirty="0">
              <a:solidFill>
                <a:schemeClr val="bg2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4217158" y="4735773"/>
            <a:ext cx="4926842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r" defTabSz="450850">
              <a:tabLst/>
            </a:pPr>
            <a:r>
              <a:rPr lang="fr-BE" sz="800" dirty="0">
                <a:solidFill>
                  <a:schemeClr val="bg2"/>
                </a:solidFill>
              </a:rPr>
              <a:t>© Crown Copyright</a:t>
            </a:r>
            <a:r>
              <a:rPr lang="fr-BE" sz="800" baseline="0" dirty="0">
                <a:solidFill>
                  <a:schemeClr val="bg2"/>
                </a:solidFill>
              </a:rPr>
              <a:t> 2020, Met Office</a:t>
            </a:r>
            <a:endParaRPr lang="en-GB" sz="800" dirty="0">
              <a:solidFill>
                <a:schemeClr val="bg2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99" y="56982"/>
            <a:ext cx="1803781" cy="78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79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61294" cy="51532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000" y="844586"/>
            <a:ext cx="5016036" cy="1011509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2000" y="2129051"/>
            <a:ext cx="4333648" cy="18142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 dirty="0">
                <a:solidFill>
                  <a:schemeClr val="bg2"/>
                </a:solidFill>
              </a:rPr>
              <a:t>www.metoffice.gov.uk	</a:t>
            </a:r>
            <a:endParaRPr lang="en-GB" sz="800" dirty="0">
              <a:solidFill>
                <a:schemeClr val="bg2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4217158" y="4735773"/>
            <a:ext cx="4926842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r" defTabSz="450850">
              <a:tabLst/>
            </a:pPr>
            <a:r>
              <a:rPr lang="fr-BE" sz="800" dirty="0">
                <a:solidFill>
                  <a:schemeClr val="bg2"/>
                </a:solidFill>
              </a:rPr>
              <a:t>© Crown Copyright</a:t>
            </a:r>
            <a:r>
              <a:rPr lang="fr-BE" sz="800" baseline="0" dirty="0">
                <a:solidFill>
                  <a:schemeClr val="bg2"/>
                </a:solidFill>
              </a:rPr>
              <a:t> 2020, Met Office</a:t>
            </a:r>
            <a:endParaRPr lang="en-GB" sz="800" dirty="0">
              <a:solidFill>
                <a:schemeClr val="bg2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99" y="56982"/>
            <a:ext cx="1803781" cy="78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883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ver-backg-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61294" cy="515322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000" y="844586"/>
            <a:ext cx="8640000" cy="1011509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2000" y="2129051"/>
            <a:ext cx="8640000" cy="18142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 dirty="0">
                <a:solidFill>
                  <a:schemeClr val="bg2"/>
                </a:solidFill>
              </a:rPr>
              <a:t>www.metoffice.gov.uk	</a:t>
            </a:r>
            <a:endParaRPr lang="en-GB" sz="800" dirty="0">
              <a:solidFill>
                <a:schemeClr val="bg2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4217158" y="4735773"/>
            <a:ext cx="4926842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r" defTabSz="450850">
              <a:tabLst/>
            </a:pPr>
            <a:r>
              <a:rPr lang="fr-BE" sz="800" dirty="0">
                <a:solidFill>
                  <a:schemeClr val="bg2"/>
                </a:solidFill>
              </a:rPr>
              <a:t>© Crown Copyright</a:t>
            </a:r>
            <a:r>
              <a:rPr lang="fr-BE" sz="800" baseline="0" dirty="0">
                <a:solidFill>
                  <a:schemeClr val="bg2"/>
                </a:solidFill>
              </a:rPr>
              <a:t> 2020, Met Office</a:t>
            </a:r>
            <a:endParaRPr lang="en-GB" sz="800" dirty="0">
              <a:solidFill>
                <a:schemeClr val="bg2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99" y="56982"/>
            <a:ext cx="1803781" cy="78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083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000" y="858032"/>
            <a:ext cx="8640000" cy="99806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2000" y="2129051"/>
            <a:ext cx="8640000" cy="18142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4217158" y="4735773"/>
            <a:ext cx="4926842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r" defTabSz="450850">
              <a:tabLst/>
            </a:pPr>
            <a:r>
              <a:rPr lang="fr-BE" sz="800" dirty="0">
                <a:solidFill>
                  <a:schemeClr val="tx1"/>
                </a:solidFill>
              </a:rPr>
              <a:t>© Crown Copyright</a:t>
            </a:r>
            <a:r>
              <a:rPr lang="fr-BE" sz="800" baseline="0" dirty="0">
                <a:solidFill>
                  <a:schemeClr val="tx1"/>
                </a:solidFill>
              </a:rPr>
              <a:t> 2020, Met Office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 dirty="0">
                <a:solidFill>
                  <a:schemeClr val="tx1"/>
                </a:solidFill>
              </a:rPr>
              <a:t>www.metoffice.gov.uk</a:t>
            </a:r>
            <a:r>
              <a:rPr lang="fr-BE" sz="800" dirty="0">
                <a:solidFill>
                  <a:schemeClr val="bg2"/>
                </a:solidFill>
              </a:rPr>
              <a:t>	</a:t>
            </a:r>
            <a:endParaRPr lang="en-GB" sz="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362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 -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000" y="989556"/>
            <a:ext cx="8640000" cy="866539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2000" y="2129051"/>
            <a:ext cx="8640000" cy="18142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4217158" y="4735773"/>
            <a:ext cx="4926842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r" defTabSz="450850">
              <a:tabLst/>
            </a:pPr>
            <a:r>
              <a:rPr lang="fr-BE" sz="800" dirty="0">
                <a:solidFill>
                  <a:schemeClr val="tx1"/>
                </a:solidFill>
              </a:rPr>
              <a:t>© Crown Copyright</a:t>
            </a:r>
            <a:r>
              <a:rPr lang="fr-BE" sz="800" baseline="0" dirty="0">
                <a:solidFill>
                  <a:schemeClr val="tx1"/>
                </a:solidFill>
              </a:rPr>
              <a:t> 2020, Met Office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 dirty="0">
                <a:solidFill>
                  <a:schemeClr val="tx1"/>
                </a:solidFill>
              </a:rPr>
              <a:t>www.metoffice.gov.uk</a:t>
            </a:r>
            <a:r>
              <a:rPr lang="fr-BE" sz="800" dirty="0">
                <a:solidFill>
                  <a:schemeClr val="bg2"/>
                </a:solidFill>
              </a:rPr>
              <a:t>	</a:t>
            </a:r>
            <a:endParaRPr lang="en-GB" sz="800" dirty="0">
              <a:solidFill>
                <a:schemeClr val="bg2"/>
              </a:solidFill>
            </a:endParaRPr>
          </a:p>
        </p:txBody>
      </p:sp>
      <p:sp>
        <p:nvSpPr>
          <p:cNvPr id="7" name="Shape 48"/>
          <p:cNvSpPr/>
          <p:nvPr userDrawn="1"/>
        </p:nvSpPr>
        <p:spPr>
          <a:xfrm>
            <a:off x="-1" y="-6009"/>
            <a:ext cx="9144002" cy="850596"/>
          </a:xfrm>
          <a:prstGeom prst="rect">
            <a:avLst/>
          </a:prstGeom>
          <a:blipFill>
            <a:blip r:embed="rId2" cstate="print"/>
          </a:blip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marL="0" marR="0" lvl="0" indent="0" algn="ctr" defTabSz="2190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Helvetica Light"/>
              </a:rPr>
              <a:t>  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99" y="56982"/>
            <a:ext cx="1803781" cy="78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869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000" y="995818"/>
            <a:ext cx="8640000" cy="860277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2000" y="2129051"/>
            <a:ext cx="8640000" cy="18142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Shape 64"/>
          <p:cNvSpPr/>
          <p:nvPr userDrawn="1"/>
        </p:nvSpPr>
        <p:spPr>
          <a:xfrm flipV="1">
            <a:off x="2141935" y="135000"/>
            <a:ext cx="0" cy="4050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26789" tIns="26789" rIns="26789" bIns="26789" anchor="ctr"/>
          <a:lstStyle/>
          <a:p>
            <a:pPr marL="0" marR="0" lvl="0" indent="0" algn="ctr" defTabSz="2190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Arial"/>
              <a:sym typeface="Helvetica Light"/>
            </a:endParaRPr>
          </a:p>
        </p:txBody>
      </p:sp>
      <p:sp>
        <p:nvSpPr>
          <p:cNvPr id="5" name="Shape 68"/>
          <p:cNvSpPr/>
          <p:nvPr userDrawn="1"/>
        </p:nvSpPr>
        <p:spPr>
          <a:xfrm>
            <a:off x="7531089" y="204551"/>
            <a:ext cx="1360911" cy="27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/>
          <a:lstStyle/>
          <a:p>
            <a:pPr marL="0" marR="0" lvl="0" indent="0" algn="l" defTabSz="342900" rtl="0" eaLnBrk="1" fontAlgn="auto" latinLnBrk="0" hangingPunct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Working together </a:t>
            </a:r>
            <a:b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(enter working relationship)</a:t>
            </a:r>
          </a:p>
        </p:txBody>
      </p:sp>
      <p:sp>
        <p:nvSpPr>
          <p:cNvPr id="6" name="Shape 69"/>
          <p:cNvSpPr>
            <a:spLocks noGrp="1"/>
          </p:cNvSpPr>
          <p:nvPr>
            <p:ph type="pic" sz="quarter" idx="13"/>
          </p:nvPr>
        </p:nvSpPr>
        <p:spPr>
          <a:xfrm>
            <a:off x="2227171" y="204551"/>
            <a:ext cx="1176126" cy="270000"/>
          </a:xfrm>
          <a:prstGeom prst="rect">
            <a:avLst/>
          </a:prstGeom>
          <a:noFill/>
          <a:ln>
            <a:noFill/>
          </a:ln>
        </p:spPr>
        <p:txBody>
          <a:bodyPr wrap="square" lIns="68579" tIns="34289" rIns="68579" bIns="34289" anchor="t">
            <a:noAutofit/>
          </a:bodyPr>
          <a:lstStyle>
            <a:lvl1pPr marL="0" indent="0">
              <a:buNone/>
              <a:defRPr sz="8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Shape 70"/>
          <p:cNvSpPr>
            <a:spLocks noGrp="1"/>
          </p:cNvSpPr>
          <p:nvPr>
            <p:ph type="pic" sz="quarter" idx="14"/>
          </p:nvPr>
        </p:nvSpPr>
        <p:spPr>
          <a:xfrm>
            <a:off x="3577935" y="204551"/>
            <a:ext cx="1176127" cy="270000"/>
          </a:xfrm>
          <a:prstGeom prst="rect">
            <a:avLst/>
          </a:prstGeom>
          <a:noFill/>
          <a:ln>
            <a:noFill/>
          </a:ln>
        </p:spPr>
        <p:txBody>
          <a:bodyPr lIns="68579" tIns="34289" rIns="68579" bIns="34289" anchor="t">
            <a:noAutofit/>
          </a:bodyPr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8" name="Shape 71"/>
          <p:cNvSpPr>
            <a:spLocks noGrp="1"/>
          </p:cNvSpPr>
          <p:nvPr>
            <p:ph type="pic" sz="quarter" idx="15"/>
          </p:nvPr>
        </p:nvSpPr>
        <p:spPr>
          <a:xfrm>
            <a:off x="4928103" y="204551"/>
            <a:ext cx="1176127" cy="270000"/>
          </a:xfrm>
          <a:prstGeom prst="rect">
            <a:avLst/>
          </a:prstGeom>
          <a:noFill/>
          <a:ln>
            <a:noFill/>
          </a:ln>
        </p:spPr>
        <p:txBody>
          <a:bodyPr lIns="68579" tIns="34289" rIns="68579" bIns="34289" anchor="t">
            <a:noAutofit/>
          </a:bodyPr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9" name="Shape 64"/>
          <p:cNvSpPr/>
          <p:nvPr userDrawn="1"/>
        </p:nvSpPr>
        <p:spPr>
          <a:xfrm flipV="1">
            <a:off x="3490913" y="135000"/>
            <a:ext cx="0" cy="4050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26789" tIns="26789" rIns="26789" bIns="26789" anchor="ctr"/>
          <a:lstStyle/>
          <a:p>
            <a:pPr marL="0" marR="0" lvl="0" indent="0" algn="ctr" defTabSz="2190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Arial"/>
              <a:sym typeface="Helvetica Light"/>
            </a:endParaRPr>
          </a:p>
        </p:txBody>
      </p:sp>
      <p:sp>
        <p:nvSpPr>
          <p:cNvPr id="10" name="Shape 64"/>
          <p:cNvSpPr/>
          <p:nvPr userDrawn="1"/>
        </p:nvSpPr>
        <p:spPr>
          <a:xfrm flipV="1">
            <a:off x="4842272" y="135000"/>
            <a:ext cx="0" cy="4050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26789" tIns="26789" rIns="26789" bIns="26789" anchor="ctr"/>
          <a:lstStyle/>
          <a:p>
            <a:pPr marL="0" marR="0" lvl="0" indent="0" algn="ctr" defTabSz="2190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Arial"/>
              <a:sym typeface="Helvetica Light"/>
            </a:endParaRPr>
          </a:p>
        </p:txBody>
      </p:sp>
      <p:sp>
        <p:nvSpPr>
          <p:cNvPr id="11" name="Shape 64"/>
          <p:cNvSpPr/>
          <p:nvPr userDrawn="1"/>
        </p:nvSpPr>
        <p:spPr>
          <a:xfrm flipV="1">
            <a:off x="6192441" y="135000"/>
            <a:ext cx="0" cy="4050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26789" tIns="26789" rIns="26789" bIns="26789" anchor="ctr"/>
          <a:lstStyle/>
          <a:p>
            <a:pPr marL="0" marR="0" lvl="0" indent="0" algn="ctr" defTabSz="2190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Arial"/>
              <a:sym typeface="Helvetica Light"/>
            </a:endParaRPr>
          </a:p>
        </p:txBody>
      </p:sp>
      <p:sp>
        <p:nvSpPr>
          <p:cNvPr id="12" name="Shape 71"/>
          <p:cNvSpPr>
            <a:spLocks noGrp="1"/>
          </p:cNvSpPr>
          <p:nvPr>
            <p:ph type="pic" sz="quarter" idx="17"/>
          </p:nvPr>
        </p:nvSpPr>
        <p:spPr>
          <a:xfrm>
            <a:off x="6273702" y="204551"/>
            <a:ext cx="1176127" cy="270000"/>
          </a:xfrm>
          <a:prstGeom prst="rect">
            <a:avLst/>
          </a:prstGeom>
          <a:noFill/>
          <a:ln>
            <a:noFill/>
          </a:ln>
        </p:spPr>
        <p:txBody>
          <a:bodyPr lIns="68579" tIns="34289" rIns="68579" bIns="34289" anchor="t">
            <a:noAutofit/>
          </a:bodyPr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 dirty="0">
                <a:solidFill>
                  <a:schemeClr val="tx1"/>
                </a:solidFill>
              </a:rPr>
              <a:t>www.metoffice.gov.uk</a:t>
            </a:r>
            <a:r>
              <a:rPr lang="fr-BE" sz="800" dirty="0">
                <a:solidFill>
                  <a:schemeClr val="bg2"/>
                </a:solidFill>
              </a:rPr>
              <a:t>	</a:t>
            </a:r>
            <a:endParaRPr lang="en-GB" sz="800" dirty="0">
              <a:solidFill>
                <a:schemeClr val="bg2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4217158" y="4735773"/>
            <a:ext cx="4926842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r" defTabSz="450850">
              <a:tabLst/>
            </a:pPr>
            <a:r>
              <a:rPr lang="fr-BE" sz="800" dirty="0">
                <a:solidFill>
                  <a:schemeClr val="tx1"/>
                </a:solidFill>
              </a:rPr>
              <a:t>© Crown Copyright</a:t>
            </a:r>
            <a:r>
              <a:rPr lang="fr-BE" sz="800" baseline="0" dirty="0">
                <a:solidFill>
                  <a:schemeClr val="tx1"/>
                </a:solidFill>
              </a:rPr>
              <a:t> 2020, Met Office</a:t>
            </a:r>
            <a:endParaRPr lang="en-GB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979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48"/>
          <p:cNvSpPr/>
          <p:nvPr userDrawn="1"/>
        </p:nvSpPr>
        <p:spPr>
          <a:xfrm>
            <a:off x="-1" y="-6009"/>
            <a:ext cx="9144002" cy="850596"/>
          </a:xfrm>
          <a:prstGeom prst="rect">
            <a:avLst/>
          </a:prstGeom>
          <a:blipFill>
            <a:blip r:embed="rId2" cstate="print"/>
          </a:blip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marL="0" marR="0" lvl="0" indent="0" algn="ctr" defTabSz="2190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Helvetica Light"/>
              </a:rPr>
              <a:t>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2000" y="2129051"/>
            <a:ext cx="8640000" cy="18142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Shape 64"/>
          <p:cNvSpPr/>
          <p:nvPr userDrawn="1"/>
        </p:nvSpPr>
        <p:spPr>
          <a:xfrm flipV="1">
            <a:off x="2141935" y="135000"/>
            <a:ext cx="0" cy="405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26789" tIns="26789" rIns="26789" bIns="26789" anchor="ctr"/>
          <a:lstStyle/>
          <a:p>
            <a:pPr marL="0" marR="0" lvl="0" indent="0" algn="ctr" defTabSz="2190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Arial"/>
              <a:sym typeface="Helvetica Light"/>
            </a:endParaRPr>
          </a:p>
        </p:txBody>
      </p:sp>
      <p:sp>
        <p:nvSpPr>
          <p:cNvPr id="6" name="Shape 69"/>
          <p:cNvSpPr>
            <a:spLocks noGrp="1"/>
          </p:cNvSpPr>
          <p:nvPr>
            <p:ph type="pic" sz="quarter" idx="13"/>
          </p:nvPr>
        </p:nvSpPr>
        <p:spPr>
          <a:xfrm>
            <a:off x="2227171" y="204551"/>
            <a:ext cx="1176126" cy="270000"/>
          </a:xfrm>
          <a:prstGeom prst="rect">
            <a:avLst/>
          </a:prstGeom>
          <a:noFill/>
          <a:ln>
            <a:noFill/>
          </a:ln>
        </p:spPr>
        <p:txBody>
          <a:bodyPr wrap="square" lIns="68579" tIns="34289" rIns="68579" bIns="34289" anchor="t">
            <a:noAutofit/>
          </a:bodyPr>
          <a:lstStyle>
            <a:lvl1pPr marL="0" indent="0">
              <a:buNone/>
              <a:defRPr sz="8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Shape 70"/>
          <p:cNvSpPr>
            <a:spLocks noGrp="1"/>
          </p:cNvSpPr>
          <p:nvPr>
            <p:ph type="pic" sz="quarter" idx="14"/>
          </p:nvPr>
        </p:nvSpPr>
        <p:spPr>
          <a:xfrm>
            <a:off x="3577935" y="204551"/>
            <a:ext cx="1176127" cy="270000"/>
          </a:xfrm>
          <a:prstGeom prst="rect">
            <a:avLst/>
          </a:prstGeom>
          <a:noFill/>
          <a:ln>
            <a:noFill/>
          </a:ln>
        </p:spPr>
        <p:txBody>
          <a:bodyPr lIns="68579" tIns="34289" rIns="68579" bIns="34289" anchor="t">
            <a:noAutofit/>
          </a:bodyPr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8" name="Shape 71"/>
          <p:cNvSpPr>
            <a:spLocks noGrp="1"/>
          </p:cNvSpPr>
          <p:nvPr>
            <p:ph type="pic" sz="quarter" idx="15"/>
          </p:nvPr>
        </p:nvSpPr>
        <p:spPr>
          <a:xfrm>
            <a:off x="4928103" y="204551"/>
            <a:ext cx="1176127" cy="270000"/>
          </a:xfrm>
          <a:prstGeom prst="rect">
            <a:avLst/>
          </a:prstGeom>
          <a:noFill/>
          <a:ln>
            <a:noFill/>
          </a:ln>
        </p:spPr>
        <p:txBody>
          <a:bodyPr lIns="68579" tIns="34289" rIns="68579" bIns="34289" anchor="t">
            <a:noAutofit/>
          </a:bodyPr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9" name="Shape 64"/>
          <p:cNvSpPr/>
          <p:nvPr userDrawn="1"/>
        </p:nvSpPr>
        <p:spPr>
          <a:xfrm flipV="1">
            <a:off x="3490913" y="135000"/>
            <a:ext cx="0" cy="405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26789" tIns="26789" rIns="26789" bIns="26789" anchor="ctr"/>
          <a:lstStyle/>
          <a:p>
            <a:pPr marL="0" marR="0" lvl="0" indent="0" algn="ctr" defTabSz="2190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Arial"/>
              <a:sym typeface="Helvetica Light"/>
            </a:endParaRPr>
          </a:p>
        </p:txBody>
      </p:sp>
      <p:sp>
        <p:nvSpPr>
          <p:cNvPr id="10" name="Shape 64"/>
          <p:cNvSpPr/>
          <p:nvPr userDrawn="1"/>
        </p:nvSpPr>
        <p:spPr>
          <a:xfrm flipV="1">
            <a:off x="4842272" y="135000"/>
            <a:ext cx="0" cy="405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26789" tIns="26789" rIns="26789" bIns="26789" anchor="ctr"/>
          <a:lstStyle/>
          <a:p>
            <a:pPr marL="0" marR="0" lvl="0" indent="0" algn="ctr" defTabSz="2190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Arial"/>
              <a:sym typeface="Helvetica Light"/>
            </a:endParaRPr>
          </a:p>
        </p:txBody>
      </p:sp>
      <p:sp>
        <p:nvSpPr>
          <p:cNvPr id="11" name="Shape 64"/>
          <p:cNvSpPr/>
          <p:nvPr userDrawn="1"/>
        </p:nvSpPr>
        <p:spPr>
          <a:xfrm flipV="1">
            <a:off x="6192441" y="135000"/>
            <a:ext cx="0" cy="405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26789" tIns="26789" rIns="26789" bIns="26789" anchor="ctr"/>
          <a:lstStyle/>
          <a:p>
            <a:pPr marL="0" marR="0" lvl="0" indent="0" algn="ctr" defTabSz="2190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Arial"/>
              <a:sym typeface="Helvetica Light"/>
            </a:endParaRPr>
          </a:p>
        </p:txBody>
      </p:sp>
      <p:sp>
        <p:nvSpPr>
          <p:cNvPr id="12" name="Shape 71"/>
          <p:cNvSpPr>
            <a:spLocks noGrp="1"/>
          </p:cNvSpPr>
          <p:nvPr>
            <p:ph type="pic" sz="quarter" idx="17"/>
          </p:nvPr>
        </p:nvSpPr>
        <p:spPr>
          <a:xfrm>
            <a:off x="6273702" y="204551"/>
            <a:ext cx="1176127" cy="270000"/>
          </a:xfrm>
          <a:prstGeom prst="rect">
            <a:avLst/>
          </a:prstGeom>
          <a:noFill/>
          <a:ln>
            <a:noFill/>
          </a:ln>
        </p:spPr>
        <p:txBody>
          <a:bodyPr lIns="68579" tIns="34289" rIns="68579" bIns="34289" anchor="t">
            <a:noAutofit/>
          </a:bodyPr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 dirty="0">
                <a:solidFill>
                  <a:schemeClr val="tx1"/>
                </a:solidFill>
              </a:rPr>
              <a:t>www.metoffice.gov.uk</a:t>
            </a:r>
            <a:r>
              <a:rPr lang="fr-BE" sz="800" dirty="0">
                <a:solidFill>
                  <a:schemeClr val="bg2"/>
                </a:solidFill>
              </a:rPr>
              <a:t>	</a:t>
            </a:r>
            <a:endParaRPr lang="en-GB" sz="800" dirty="0">
              <a:solidFill>
                <a:schemeClr val="bg2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4217158" y="4735773"/>
            <a:ext cx="4926842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r" defTabSz="450850">
              <a:tabLst/>
            </a:pPr>
            <a:r>
              <a:rPr lang="fr-BE" sz="800" dirty="0">
                <a:solidFill>
                  <a:schemeClr val="tx1"/>
                </a:solidFill>
              </a:rPr>
              <a:t>© Crown Copyright</a:t>
            </a:r>
            <a:r>
              <a:rPr lang="fr-BE" sz="800" baseline="0" dirty="0">
                <a:solidFill>
                  <a:schemeClr val="tx1"/>
                </a:solidFill>
              </a:rPr>
              <a:t> 2020, Met Office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5" name="Shape 68"/>
          <p:cNvSpPr/>
          <p:nvPr userDrawn="1"/>
        </p:nvSpPr>
        <p:spPr>
          <a:xfrm>
            <a:off x="7531089" y="204551"/>
            <a:ext cx="1360911" cy="27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/>
          <a:lstStyle/>
          <a:p>
            <a:pPr marL="0" marR="0" lvl="0" indent="0" algn="l" defTabSz="342900" rtl="0" eaLnBrk="1" fontAlgn="auto" latinLnBrk="0" hangingPunct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Working together </a:t>
            </a:r>
            <a:b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(enter working relationship)</a:t>
            </a:r>
          </a:p>
        </p:txBody>
      </p:sp>
      <p:pic>
        <p:nvPicPr>
          <p:cNvPr id="16" name="MO_MASTER_for_dark_backg_RBG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7307" y="40500"/>
            <a:ext cx="1803780" cy="565650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252000" y="985596"/>
            <a:ext cx="8640000" cy="870499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208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2625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2000" y="1548000"/>
            <a:ext cx="4087988" cy="3060000"/>
          </a:xfrm>
        </p:spPr>
        <p:txBody>
          <a:bodyPr/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400" y="1548000"/>
            <a:ext cx="4089600" cy="3060000"/>
          </a:xfrm>
        </p:spPr>
        <p:txBody>
          <a:bodyPr/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67473" y="1548000"/>
            <a:ext cx="0" cy="30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1592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columns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2000" y="1548000"/>
            <a:ext cx="5670000" cy="3060000"/>
          </a:xfrm>
        </p:spPr>
        <p:txBody>
          <a:bodyPr/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00" y="1548000"/>
            <a:ext cx="2700000" cy="3060000"/>
          </a:xfrm>
        </p:spPr>
        <p:txBody>
          <a:bodyPr/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57352" y="1548000"/>
            <a:ext cx="0" cy="30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9481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2000" y="1548000"/>
            <a:ext cx="2700000" cy="3060000"/>
          </a:xfrm>
        </p:spPr>
        <p:txBody>
          <a:bodyPr/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00" y="1548000"/>
            <a:ext cx="2700000" cy="3060000"/>
          </a:xfrm>
        </p:spPr>
        <p:txBody>
          <a:bodyPr/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093513" y="1548000"/>
            <a:ext cx="0" cy="30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3"/>
          <p:cNvSpPr>
            <a:spLocks noGrp="1"/>
          </p:cNvSpPr>
          <p:nvPr>
            <p:ph sz="half" idx="10"/>
          </p:nvPr>
        </p:nvSpPr>
        <p:spPr>
          <a:xfrm>
            <a:off x="3222000" y="1548000"/>
            <a:ext cx="2700000" cy="3060000"/>
          </a:xfrm>
        </p:spPr>
        <p:txBody>
          <a:bodyPr/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57352" y="1548000"/>
            <a:ext cx="0" cy="30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0483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00" y="764088"/>
            <a:ext cx="4087988" cy="5116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2000" y="1548000"/>
            <a:ext cx="4087988" cy="3060000"/>
          </a:xfrm>
        </p:spPr>
        <p:txBody>
          <a:bodyPr/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4562272" y="1"/>
            <a:ext cx="4572000" cy="47167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5971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4347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709468"/>
            <a:ext cx="9144000" cy="402238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709468"/>
            <a:ext cx="9143999" cy="40223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21732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4017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- real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 dirty="0">
                <a:solidFill>
                  <a:schemeClr val="tx1"/>
                </a:solidFill>
              </a:rPr>
              <a:t>	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038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vider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728000"/>
            <a:ext cx="9144000" cy="3415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00" y="858033"/>
            <a:ext cx="8640000" cy="7421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2000" y="1975480"/>
            <a:ext cx="8640000" cy="2632520"/>
          </a:xfrm>
        </p:spPr>
        <p:txBody>
          <a:bodyPr/>
          <a:lstStyle>
            <a:lvl1pPr marL="0" indent="0">
              <a:buNone/>
              <a:defRPr baseline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 dirty="0">
                <a:solidFill>
                  <a:schemeClr val="tx1"/>
                </a:solidFill>
              </a:rPr>
              <a:t>	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88747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728000"/>
            <a:ext cx="9144000" cy="34155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2000" y="1976400"/>
            <a:ext cx="8640000" cy="2631600"/>
          </a:xfrm>
        </p:spPr>
        <p:txBody>
          <a:bodyPr/>
          <a:lstStyle>
            <a:lvl1pPr marL="0" indent="0">
              <a:buNone/>
              <a:defRPr baseline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 dirty="0">
                <a:solidFill>
                  <a:schemeClr val="tx1"/>
                </a:solidFill>
              </a:rPr>
              <a:t>	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52000" y="858033"/>
            <a:ext cx="8640000" cy="7421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3758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728000"/>
            <a:ext cx="9144000" cy="34155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2000" y="1976400"/>
            <a:ext cx="8640000" cy="263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bg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 dirty="0">
                <a:solidFill>
                  <a:schemeClr val="bg2"/>
                </a:solidFill>
              </a:rPr>
              <a:t>	</a:t>
            </a:r>
            <a:endParaRPr lang="en-GB" sz="800" dirty="0">
              <a:solidFill>
                <a:schemeClr val="bg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52000" y="858033"/>
            <a:ext cx="8640000" cy="7421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118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728000"/>
            <a:ext cx="9144000" cy="3415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2000" y="1976400"/>
            <a:ext cx="8640000" cy="2631600"/>
          </a:xfrm>
        </p:spPr>
        <p:txBody>
          <a:bodyPr/>
          <a:lstStyle>
            <a:lvl1pPr marL="0" indent="0">
              <a:buNone/>
              <a:defRPr baseline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 dirty="0">
                <a:solidFill>
                  <a:schemeClr val="tx1"/>
                </a:solidFill>
              </a:rPr>
              <a:t>	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52000" y="858033"/>
            <a:ext cx="8640000" cy="7421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1542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728000"/>
            <a:ext cx="9144000" cy="34155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2000" y="1976400"/>
            <a:ext cx="8640000" cy="2631600"/>
          </a:xfrm>
        </p:spPr>
        <p:txBody>
          <a:bodyPr/>
          <a:lstStyle>
            <a:lvl1pPr marL="0" indent="0">
              <a:buNone/>
              <a:defRPr baseline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 dirty="0">
                <a:solidFill>
                  <a:schemeClr val="tx1"/>
                </a:solidFill>
              </a:rPr>
              <a:t>	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52000" y="858033"/>
            <a:ext cx="8640000" cy="7421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3338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822593"/>
            <a:ext cx="9144000" cy="3415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GB" sz="2000"/>
          </a:p>
        </p:txBody>
      </p:sp>
      <p:sp>
        <p:nvSpPr>
          <p:cNvPr id="7" name="Rectangle 6"/>
          <p:cNvSpPr/>
          <p:nvPr userDrawn="1"/>
        </p:nvSpPr>
        <p:spPr>
          <a:xfrm>
            <a:off x="0" y="482721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 dirty="0">
                <a:solidFill>
                  <a:schemeClr val="tx1"/>
                </a:solidFill>
              </a:rPr>
              <a:t>www.metoffice.gov.uk	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4217158" y="4827213"/>
            <a:ext cx="4926842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r" defTabSz="450850">
              <a:tabLst/>
            </a:pPr>
            <a:r>
              <a:rPr lang="fr-BE" sz="800" dirty="0">
                <a:solidFill>
                  <a:schemeClr val="tx1"/>
                </a:solidFill>
              </a:rPr>
              <a:t>© Crown Copyright</a:t>
            </a:r>
            <a:r>
              <a:rPr lang="fr-BE" sz="800" baseline="0" dirty="0">
                <a:solidFill>
                  <a:schemeClr val="tx1"/>
                </a:solidFill>
              </a:rPr>
              <a:t> 2020, Met Office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246704" y="2004607"/>
            <a:ext cx="86400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fr-BE" sz="1600" dirty="0"/>
              <a:t>For more information </a:t>
            </a:r>
            <a:r>
              <a:rPr lang="fr-BE" sz="1600" dirty="0" err="1"/>
              <a:t>please</a:t>
            </a:r>
            <a:r>
              <a:rPr lang="fr-BE" sz="1600" dirty="0"/>
              <a:t> contact</a:t>
            </a:r>
            <a:endParaRPr lang="en-GB" sz="1600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786704" y="3994278"/>
            <a:ext cx="8100000" cy="360000"/>
          </a:xfrm>
        </p:spPr>
        <p:txBody>
          <a:bodyPr anchor="ctr">
            <a:normAutofit/>
          </a:bodyPr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dirty="0"/>
              <a:t>Insert phone number here</a:t>
            </a:r>
            <a:endParaRPr lang="en-GB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786704" y="3308732"/>
            <a:ext cx="8100000" cy="360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Insert e-mail here</a:t>
            </a:r>
            <a:endParaRPr lang="en-GB" dirty="0"/>
          </a:p>
        </p:txBody>
      </p:sp>
      <p:pic>
        <p:nvPicPr>
          <p:cNvPr id="16" name="email-icon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9161" y="3293168"/>
            <a:ext cx="357677" cy="39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" name="phone-icon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50419" y="3969028"/>
            <a:ext cx="415161" cy="39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" name="web-icon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24000" y="2617307"/>
            <a:ext cx="467999" cy="39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52000" y="858033"/>
            <a:ext cx="8640000" cy="7421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9D831641-A9B0-4015-BA01-F2C8C9F064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2008" y="2628802"/>
            <a:ext cx="8100000" cy="360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www.metoffice.gov.uk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251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000" y="768633"/>
            <a:ext cx="8640000" cy="57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2000" y="1548000"/>
            <a:ext cx="8640000" cy="30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 dirty="0">
                <a:solidFill>
                  <a:schemeClr val="tx1"/>
                </a:solidFill>
              </a:rPr>
              <a:t>	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851910" y="4802317"/>
            <a:ext cx="143637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E5F9FE41-C8F9-47EF-94C3-C489748B47D0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47" y="56368"/>
            <a:ext cx="1783501" cy="77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655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6" r:id="rId2"/>
    <p:sldLayoutId id="2147483659" r:id="rId3"/>
    <p:sldLayoutId id="2147483681" r:id="rId4"/>
    <p:sldLayoutId id="2147483684" r:id="rId5"/>
    <p:sldLayoutId id="2147483682" r:id="rId6"/>
    <p:sldLayoutId id="2147483685" r:id="rId7"/>
    <p:sldLayoutId id="2147483660" r:id="rId8"/>
    <p:sldLayoutId id="2147483662" r:id="rId9"/>
    <p:sldLayoutId id="2147483670" r:id="rId10"/>
    <p:sldLayoutId id="2147483669" r:id="rId11"/>
    <p:sldLayoutId id="2147483668" r:id="rId12"/>
    <p:sldLayoutId id="2147483664" r:id="rId13"/>
    <p:sldLayoutId id="2147483671" r:id="rId14"/>
    <p:sldLayoutId id="2147483665" r:id="rId15"/>
    <p:sldLayoutId id="2147483677" r:id="rId16"/>
    <p:sldLayoutId id="2147483672" r:id="rId17"/>
    <p:sldLayoutId id="2147483676" r:id="rId18"/>
    <p:sldLayoutId id="2147483674" r:id="rId19"/>
    <p:sldLayoutId id="2147483675" r:id="rId20"/>
    <p:sldLayoutId id="2147483673" r:id="rId21"/>
    <p:sldLayoutId id="2147483683" r:id="rId2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070" y="1290865"/>
            <a:ext cx="4147041" cy="1004758"/>
          </a:xfrm>
        </p:spPr>
        <p:txBody>
          <a:bodyPr>
            <a:normAutofit/>
          </a:bodyPr>
          <a:lstStyle/>
          <a:p>
            <a:r>
              <a:rPr lang="en-GB" dirty="0"/>
              <a:t>Update on GOSI10 sea ice work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2070" y="2571750"/>
            <a:ext cx="3952905" cy="1814299"/>
          </a:xfrm>
        </p:spPr>
        <p:txBody>
          <a:bodyPr>
            <a:normAutofit/>
          </a:bodyPr>
          <a:lstStyle/>
          <a:p>
            <a:r>
              <a:rPr lang="en-GB" sz="2000" dirty="0"/>
              <a:t>JMMP Quarterly Meeting</a:t>
            </a:r>
          </a:p>
          <a:p>
            <a:endParaRPr lang="en-GB" dirty="0"/>
          </a:p>
          <a:p>
            <a:r>
              <a:rPr lang="en-GB" dirty="0"/>
              <a:t>Emma Fiedler, Ed Blockley</a:t>
            </a:r>
          </a:p>
          <a:p>
            <a:r>
              <a:rPr lang="en-GB" dirty="0"/>
              <a:t>20 November 2025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5207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36DAF-4ECB-8693-D193-8287038AC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08BD9114-4C2B-A905-05A7-B08653D8E9B8}"/>
              </a:ext>
            </a:extLst>
          </p:cNvPr>
          <p:cNvSpPr txBox="1">
            <a:spLocks/>
          </p:cNvSpPr>
          <p:nvPr/>
        </p:nvSpPr>
        <p:spPr>
          <a:xfrm>
            <a:off x="2106410" y="0"/>
            <a:ext cx="6320718" cy="7421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GOSI10 sea ice update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9D51BA-D124-B395-5CCA-FF7657DEBF30}"/>
              </a:ext>
            </a:extLst>
          </p:cNvPr>
          <p:cNvSpPr txBox="1"/>
          <p:nvPr/>
        </p:nvSpPr>
        <p:spPr>
          <a:xfrm>
            <a:off x="450289" y="1006983"/>
            <a:ext cx="80841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000000"/>
              </a:buClr>
            </a:pPr>
            <a:r>
              <a:rPr lang="en-GB" sz="2000" kern="100" dirty="0"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GOSI10.beta.5 - Upgrades to the sea ice dynamics to improve sea ice model effective resolution and representation of landfast (immobile) ice</a:t>
            </a:r>
          </a:p>
          <a:p>
            <a:pPr algn="just">
              <a:buClr>
                <a:srgbClr val="000000"/>
              </a:buClr>
            </a:pPr>
            <a:endParaRPr lang="en-GB" sz="2000" kern="100" dirty="0">
              <a:latin typeface="Aptos" panose="020B00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GB" sz="2000" kern="100" dirty="0"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Landfast ice: Instability along the north fold (fixed)</a:t>
            </a:r>
          </a:p>
          <a:p>
            <a:pPr marL="285750" indent="-285750"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GB" sz="2000" kern="100" dirty="0"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Super-cooled ocean grid points impacting sea ice strength and growth (ongoing)</a:t>
            </a:r>
          </a:p>
        </p:txBody>
      </p:sp>
    </p:spTree>
    <p:extLst>
      <p:ext uri="{BB962C8B-B14F-4D97-AF65-F5344CB8AC3E}">
        <p14:creationId xmlns:p14="http://schemas.microsoft.com/office/powerpoint/2010/main" val="852568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B9FC61-76D7-B3CC-0F35-8D91ACD6943A}"/>
              </a:ext>
            </a:extLst>
          </p:cNvPr>
          <p:cNvSpPr txBox="1">
            <a:spLocks/>
          </p:cNvSpPr>
          <p:nvPr/>
        </p:nvSpPr>
        <p:spPr>
          <a:xfrm>
            <a:off x="2041072" y="-92657"/>
            <a:ext cx="6786305" cy="7421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Landfast ice: Instability along north fold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6FE237-B06F-0872-1BE3-248F9022A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02" y="1664829"/>
            <a:ext cx="8510754" cy="32860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EB9916-CF9E-AB94-D936-428C868A35FD}"/>
              </a:ext>
            </a:extLst>
          </p:cNvPr>
          <p:cNvSpPr txBox="1"/>
          <p:nvPr/>
        </p:nvSpPr>
        <p:spPr>
          <a:xfrm>
            <a:off x="390102" y="834017"/>
            <a:ext cx="7952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Lemieux et al. (2016) landfast ice scheme increases basal stress for grounded ridges, and tensile stress to allow arches to develop</a:t>
            </a:r>
          </a:p>
        </p:txBody>
      </p:sp>
    </p:spTree>
    <p:extLst>
      <p:ext uri="{BB962C8B-B14F-4D97-AF65-F5344CB8AC3E}">
        <p14:creationId xmlns:p14="http://schemas.microsoft.com/office/powerpoint/2010/main" val="1043380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F47FD-A787-E8C9-32F6-E09ADC036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C5A94E-94A8-7034-9359-46CB60751208}"/>
              </a:ext>
            </a:extLst>
          </p:cNvPr>
          <p:cNvSpPr txBox="1">
            <a:spLocks/>
          </p:cNvSpPr>
          <p:nvPr/>
        </p:nvSpPr>
        <p:spPr>
          <a:xfrm>
            <a:off x="2041072" y="-92657"/>
            <a:ext cx="6786305" cy="7421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Landfast ice: Instability along north fold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634077-4770-3686-4749-6BB5DCE692A4}"/>
              </a:ext>
            </a:extLst>
          </p:cNvPr>
          <p:cNvSpPr txBox="1"/>
          <p:nvPr/>
        </p:nvSpPr>
        <p:spPr>
          <a:xfrm>
            <a:off x="455520" y="1309866"/>
            <a:ext cx="783195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685800"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An issue in NEMO5 already identified and fixed by Daley ensured all points on the north fold in the sea ice rheology code are set by </a:t>
            </a:r>
            <a:r>
              <a:rPr lang="en-GB" sz="1600" dirty="0" err="1">
                <a:latin typeface="Aptos" panose="020B0004020202020204" pitchFamily="34" charset="0"/>
              </a:rPr>
              <a:t>lbc_lnk</a:t>
            </a:r>
            <a:r>
              <a:rPr lang="en-GB" sz="1600" dirty="0">
                <a:latin typeface="Aptos" panose="020B0004020202020204" pitchFamily="34" charset="0"/>
              </a:rPr>
              <a:t>, not just halo points</a:t>
            </a:r>
          </a:p>
          <a:p>
            <a:pPr marL="1200150" lvl="2" indent="-285750" defTabSz="685800">
              <a:buFont typeface="Courier New" panose="02070309020205020404" pitchFamily="49" charset="0"/>
              <a:buChar char="o"/>
            </a:pPr>
            <a:r>
              <a:rPr lang="en-GB" sz="1600" dirty="0">
                <a:latin typeface="Aptos" panose="020B0004020202020204" pitchFamily="34" charset="0"/>
              </a:rPr>
              <a:t>Avoids instabilities building up in iterative solver</a:t>
            </a:r>
          </a:p>
          <a:p>
            <a:pPr marL="285750" indent="-285750" defTabSz="685800">
              <a:buFont typeface="Arial" panose="020B0604020202020204" pitchFamily="34" charset="0"/>
              <a:buChar char="•"/>
            </a:pPr>
            <a:endParaRPr lang="en-GB" sz="1600" dirty="0">
              <a:latin typeface="Aptos" panose="020B0004020202020204" pitchFamily="34" charset="0"/>
            </a:endParaRPr>
          </a:p>
          <a:p>
            <a:pPr marL="285750" indent="-285750" defTabSz="685800"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This was implemented only on the final rheology </a:t>
            </a:r>
            <a:r>
              <a:rPr lang="en-GB" sz="1600" dirty="0" err="1">
                <a:latin typeface="Aptos" panose="020B0004020202020204" pitchFamily="34" charset="0"/>
              </a:rPr>
              <a:t>subcycle</a:t>
            </a:r>
            <a:endParaRPr lang="en-GB" sz="1600" dirty="0">
              <a:latin typeface="Aptos" panose="020B0004020202020204" pitchFamily="34" charset="0"/>
            </a:endParaRPr>
          </a:p>
          <a:p>
            <a:pPr marL="285750" indent="-285750" defTabSz="685800">
              <a:buFont typeface="Arial" panose="020B0604020202020204" pitchFamily="34" charset="0"/>
              <a:buChar char="•"/>
            </a:pPr>
            <a:endParaRPr lang="en-GB" sz="1600" dirty="0">
              <a:latin typeface="Aptos" panose="020B0004020202020204" pitchFamily="34" charset="0"/>
            </a:endParaRPr>
          </a:p>
          <a:p>
            <a:pPr marL="285750" indent="-285750" defTabSz="685800"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However, for the landfast ice scheme, this is insufficient</a:t>
            </a:r>
          </a:p>
          <a:p>
            <a:pPr marL="1200150" lvl="2" indent="-285750" defTabSz="685800">
              <a:buFont typeface="Courier New" panose="02070309020205020404" pitchFamily="49" charset="0"/>
              <a:buChar char="o"/>
            </a:pPr>
            <a:r>
              <a:rPr lang="en-GB" sz="1600" dirty="0">
                <a:latin typeface="Aptos" panose="020B0004020202020204" pitchFamily="34" charset="0"/>
              </a:rPr>
              <a:t>Instead, now performed on all </a:t>
            </a:r>
            <a:r>
              <a:rPr lang="en-GB" sz="1600" dirty="0" err="1">
                <a:latin typeface="Aptos" panose="020B0004020202020204" pitchFamily="34" charset="0"/>
              </a:rPr>
              <a:t>subcycles</a:t>
            </a:r>
            <a:r>
              <a:rPr lang="en-GB" sz="1600" dirty="0">
                <a:latin typeface="Aptos" panose="020B0004020202020204" pitchFamily="34" charset="0"/>
              </a:rPr>
              <a:t>, not just final one</a:t>
            </a:r>
          </a:p>
          <a:p>
            <a:pPr marL="285750" indent="-285750" defTabSz="685800">
              <a:buFont typeface="Arial" panose="020B0604020202020204" pitchFamily="34" charset="0"/>
              <a:buChar char="•"/>
            </a:pPr>
            <a:endParaRPr lang="en-GB" sz="1600" dirty="0">
              <a:latin typeface="Aptos" panose="020B0004020202020204" pitchFamily="34" charset="0"/>
            </a:endParaRPr>
          </a:p>
          <a:p>
            <a:pPr marL="285750" indent="-285750" defTabSz="685800"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Update is now in the GOSI10 main</a:t>
            </a:r>
          </a:p>
          <a:p>
            <a:pPr defTabSz="685800"/>
            <a:endParaRPr lang="en-GB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373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190D7-3F09-BF61-1736-672C36C37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207EE1-A1ED-6093-BB1C-FFF6E0D431D7}"/>
              </a:ext>
            </a:extLst>
          </p:cNvPr>
          <p:cNvSpPr txBox="1">
            <a:spLocks/>
          </p:cNvSpPr>
          <p:nvPr/>
        </p:nvSpPr>
        <p:spPr>
          <a:xfrm>
            <a:off x="2041072" y="-92657"/>
            <a:ext cx="6786305" cy="7421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Landfast ice: Instability along north fold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7DE29-6E31-962C-DC5B-6B1B357C3244}"/>
              </a:ext>
            </a:extLst>
          </p:cNvPr>
          <p:cNvSpPr txBox="1"/>
          <p:nvPr/>
        </p:nvSpPr>
        <p:spPr>
          <a:xfrm>
            <a:off x="428518" y="741174"/>
            <a:ext cx="7976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000000"/>
              </a:buClr>
            </a:pPr>
            <a:r>
              <a:rPr lang="en-GB" sz="2000" kern="100" dirty="0"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fix.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4CBE6F-41A8-A6BC-A91D-400AC9934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8" y="1232922"/>
            <a:ext cx="8705843" cy="340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701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02DD0-0EAC-2566-510F-C89DDEA45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5C104D-3E0B-5CDC-DC1D-3084006D5604}"/>
              </a:ext>
            </a:extLst>
          </p:cNvPr>
          <p:cNvSpPr txBox="1">
            <a:spLocks/>
          </p:cNvSpPr>
          <p:nvPr/>
        </p:nvSpPr>
        <p:spPr>
          <a:xfrm>
            <a:off x="2041072" y="-92657"/>
            <a:ext cx="6786305" cy="7421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Supercooled ocean grid-points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9B1DC1-520E-2AA7-0ED8-B826C046A2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43" t="3850" r="9637" b="25033"/>
          <a:stretch>
            <a:fillRect/>
          </a:stretch>
        </p:blipFill>
        <p:spPr>
          <a:xfrm>
            <a:off x="313186" y="2506736"/>
            <a:ext cx="3872582" cy="26367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2C0B2A-9F45-8661-A1F6-2E922AB0D1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525"/>
          <a:stretch>
            <a:fillRect/>
          </a:stretch>
        </p:blipFill>
        <p:spPr>
          <a:xfrm>
            <a:off x="4958233" y="2506736"/>
            <a:ext cx="3869144" cy="26367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1EF20F-F85C-7D5C-AC79-604455E79B1F}"/>
              </a:ext>
            </a:extLst>
          </p:cNvPr>
          <p:cNvSpPr txBox="1"/>
          <p:nvPr/>
        </p:nvSpPr>
        <p:spPr>
          <a:xfrm>
            <a:off x="169328" y="1721906"/>
            <a:ext cx="416029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latin typeface="Aptos" panose="020B0004020202020204" pitchFamily="34" charset="0"/>
              </a:rPr>
              <a:t>Sea ice strength is 2 x 10</a:t>
            </a:r>
            <a:r>
              <a:rPr lang="en-GB" sz="1500" baseline="30000" dirty="0">
                <a:latin typeface="Aptos" panose="020B0004020202020204" pitchFamily="34" charset="0"/>
              </a:rPr>
              <a:t>6</a:t>
            </a:r>
            <a:r>
              <a:rPr lang="en-GB" sz="1500" dirty="0">
                <a:latin typeface="Aptos" panose="020B0004020202020204" pitchFamily="34" charset="0"/>
              </a:rPr>
              <a:t> N/m at this point. The next strongest globally is about 6 x 10</a:t>
            </a:r>
            <a:r>
              <a:rPr lang="en-GB" sz="1500" baseline="30000" dirty="0">
                <a:latin typeface="Aptos" panose="020B0004020202020204" pitchFamily="34" charset="0"/>
              </a:rPr>
              <a:t>5 </a:t>
            </a:r>
            <a:r>
              <a:rPr lang="en-GB" sz="1500" dirty="0">
                <a:latin typeface="Aptos" panose="020B0004020202020204" pitchFamily="34" charset="0"/>
              </a:rPr>
              <a:t>N/m (over 3 times smaller)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79E1F1-AA10-EBCD-10A6-EECBE2A04E8E}"/>
              </a:ext>
            </a:extLst>
          </p:cNvPr>
          <p:cNvSpPr txBox="1"/>
          <p:nvPr/>
        </p:nvSpPr>
        <p:spPr>
          <a:xfrm>
            <a:off x="5089859" y="1837322"/>
            <a:ext cx="36058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latin typeface="Aptos" panose="020B0004020202020204" pitchFamily="34" charset="0"/>
              </a:rPr>
              <a:t>Sea ice thickness is growing excessively (17 m at this location)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FFB539-B81B-18AC-9F74-59A53ABF364E}"/>
              </a:ext>
            </a:extLst>
          </p:cNvPr>
          <p:cNvSpPr txBox="1"/>
          <p:nvPr/>
        </p:nvSpPr>
        <p:spPr>
          <a:xfrm>
            <a:off x="169328" y="793306"/>
            <a:ext cx="889364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latin typeface="Aptos" panose="020B0004020202020204" pitchFamily="34" charset="0"/>
              </a:rPr>
              <a:t>A point in the high Arctic is behaving oddly. This is a coastal point off Ellesmere Island. Excessive sea ice strength and thickness are seen here. The plots shown are after a 5-year run with the new sea ice dynamics. However, the issue is seen in the NEMO5 release, GOSI10.beta.4, without any sea ice updates.</a:t>
            </a:r>
          </a:p>
        </p:txBody>
      </p:sp>
    </p:spTree>
    <p:extLst>
      <p:ext uri="{BB962C8B-B14F-4D97-AF65-F5344CB8AC3E}">
        <p14:creationId xmlns:p14="http://schemas.microsoft.com/office/powerpoint/2010/main" val="1771618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7CC192D-EDD3-FF5E-12F9-C43A7DFBE823}"/>
              </a:ext>
            </a:extLst>
          </p:cNvPr>
          <p:cNvSpPr txBox="1"/>
          <p:nvPr/>
        </p:nvSpPr>
        <p:spPr>
          <a:xfrm>
            <a:off x="180277" y="661268"/>
            <a:ext cx="35236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After 1 month (monthly mean ocean temperature, January 1976)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5683A8-137B-9FD8-6072-04CCC12CFD74}"/>
              </a:ext>
            </a:extLst>
          </p:cNvPr>
          <p:cNvSpPr txBox="1"/>
          <p:nvPr/>
        </p:nvSpPr>
        <p:spPr>
          <a:xfrm>
            <a:off x="90139" y="1178765"/>
            <a:ext cx="3901866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 err="1">
                <a:latin typeface="Aptos" panose="020B0004020202020204" pitchFamily="34" charset="0"/>
              </a:rPr>
              <a:t>tos_con</a:t>
            </a:r>
            <a:r>
              <a:rPr lang="en-GB" sz="1350" dirty="0">
                <a:latin typeface="Aptos" panose="020B0004020202020204" pitchFamily="34" charset="0"/>
              </a:rPr>
              <a:t> (sea surface conservative temperature) is -2.68C at this point (which is the global minimum). Surrounding temps are around -1.70C.</a:t>
            </a:r>
          </a:p>
          <a:p>
            <a:endParaRPr lang="en-GB" sz="1350" dirty="0">
              <a:latin typeface="Aptos" panose="020B0004020202020204" pitchFamily="34" charset="0"/>
            </a:endParaRPr>
          </a:p>
          <a:p>
            <a:r>
              <a:rPr lang="en-GB" sz="1350" dirty="0">
                <a:latin typeface="Aptos" panose="020B0004020202020204" pitchFamily="34" charset="0"/>
              </a:rPr>
              <a:t>Signal disappears at about 10 m depth (in </a:t>
            </a:r>
            <a:r>
              <a:rPr lang="en-GB" sz="1350" dirty="0" err="1">
                <a:latin typeface="Aptos" panose="020B0004020202020204" pitchFamily="34" charset="0"/>
              </a:rPr>
              <a:t>thetao_con</a:t>
            </a:r>
            <a:r>
              <a:rPr lang="en-GB" sz="1350" dirty="0">
                <a:latin typeface="Aptos" panose="020B0004020202020204" pitchFamily="34" charset="0"/>
              </a:rPr>
              <a:t>; conservative temperature) - so it’s surface only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00557E-B411-CC16-4FF4-BCCEA94BFC5C}"/>
              </a:ext>
            </a:extLst>
          </p:cNvPr>
          <p:cNvSpPr txBox="1"/>
          <p:nvPr/>
        </p:nvSpPr>
        <p:spPr>
          <a:xfrm>
            <a:off x="5066122" y="644472"/>
            <a:ext cx="35236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After 4 years (monthly mean ocean temperature, January 1980)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097F64-2DBA-5CAC-9754-56E91F4AA9D2}"/>
              </a:ext>
            </a:extLst>
          </p:cNvPr>
          <p:cNvSpPr txBox="1"/>
          <p:nvPr/>
        </p:nvSpPr>
        <p:spPr>
          <a:xfrm>
            <a:off x="3962642" y="4245112"/>
            <a:ext cx="3696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Nothing odd in the start files at this location, but this shouldn’t persist for years anyway…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5D76EBC-C93D-3F55-9146-28302286C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39" y="2714622"/>
            <a:ext cx="3098698" cy="239248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36FE683-FA22-2608-E5A3-6130DE26C7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29" t="7890" r="5431" b="17584"/>
          <a:stretch>
            <a:fillRect/>
          </a:stretch>
        </p:blipFill>
        <p:spPr>
          <a:xfrm>
            <a:off x="5282339" y="1192372"/>
            <a:ext cx="2893220" cy="227873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701D8F6-67F1-4B23-F536-D99FA7E68C77}"/>
              </a:ext>
            </a:extLst>
          </p:cNvPr>
          <p:cNvSpPr txBox="1"/>
          <p:nvPr/>
        </p:nvSpPr>
        <p:spPr>
          <a:xfrm>
            <a:off x="4924607" y="3507984"/>
            <a:ext cx="4077879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 err="1">
                <a:latin typeface="Aptos" panose="020B0004020202020204" pitchFamily="34" charset="0"/>
              </a:rPr>
              <a:t>tos_con</a:t>
            </a:r>
            <a:r>
              <a:rPr lang="en-GB" sz="1350" dirty="0">
                <a:latin typeface="Aptos" panose="020B0004020202020204" pitchFamily="34" charset="0"/>
              </a:rPr>
              <a:t> here is -3.74C (global minimum), with surrounding area around -2.0C, disappears by 5 m depth.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5B4108-CE98-97BE-0C4C-209561E3B9AA}"/>
              </a:ext>
            </a:extLst>
          </p:cNvPr>
          <p:cNvSpPr txBox="1">
            <a:spLocks/>
          </p:cNvSpPr>
          <p:nvPr/>
        </p:nvSpPr>
        <p:spPr>
          <a:xfrm>
            <a:off x="2041072" y="-92657"/>
            <a:ext cx="6786305" cy="7421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Supercooled ocean grid-points</a:t>
            </a:r>
          </a:p>
        </p:txBody>
      </p:sp>
    </p:spTree>
    <p:extLst>
      <p:ext uri="{BB962C8B-B14F-4D97-AF65-F5344CB8AC3E}">
        <p14:creationId xmlns:p14="http://schemas.microsoft.com/office/powerpoint/2010/main" val="174389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728A7B0-B082-C694-3D6E-D5A5C1AFBA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08" t="7025" r="12435" b="12555"/>
          <a:stretch>
            <a:fillRect/>
          </a:stretch>
        </p:blipFill>
        <p:spPr>
          <a:xfrm>
            <a:off x="6994288" y="649536"/>
            <a:ext cx="1948543" cy="16614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0560EF-F818-CFC2-76B2-57F5FF494DA9}"/>
              </a:ext>
            </a:extLst>
          </p:cNvPr>
          <p:cNvSpPr txBox="1"/>
          <p:nvPr/>
        </p:nvSpPr>
        <p:spPr>
          <a:xfrm>
            <a:off x="285424" y="880748"/>
            <a:ext cx="42865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ptos" panose="020B0004020202020204" pitchFamily="34" charset="0"/>
              </a:rPr>
              <a:t>Salinity looks fine (mean after 1 month shown, but similar for 4 years), and pattern corresponds to the river flux as expected. Salinity in this area ~30.71 g/kg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94CA32-E90C-3851-8C1C-F40CBE040460}"/>
              </a:ext>
            </a:extLst>
          </p:cNvPr>
          <p:cNvSpPr txBox="1"/>
          <p:nvPr/>
        </p:nvSpPr>
        <p:spPr>
          <a:xfrm>
            <a:off x="5486749" y="1063499"/>
            <a:ext cx="20748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ptos" panose="020B0004020202020204" pitchFamily="34" charset="0"/>
              </a:rPr>
              <a:t>River flux looks fine.</a:t>
            </a:r>
          </a:p>
          <a:p>
            <a:r>
              <a:rPr lang="en-GB" sz="1400" dirty="0">
                <a:latin typeface="Aptos" panose="020B0004020202020204" pitchFamily="34" charset="0"/>
              </a:rPr>
              <a:t>Values are small here compared to other locations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739E1F-22FA-6611-C520-4875A8BD7C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38" t="7679" b="13090"/>
          <a:stretch>
            <a:fillRect/>
          </a:stretch>
        </p:blipFill>
        <p:spPr>
          <a:xfrm>
            <a:off x="542237" y="1596329"/>
            <a:ext cx="3115015" cy="24275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A41DAE7-CF7F-0CA0-9B27-DCE7ECB25D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48" r="6312"/>
          <a:stretch>
            <a:fillRect/>
          </a:stretch>
        </p:blipFill>
        <p:spPr>
          <a:xfrm>
            <a:off x="6312602" y="2289765"/>
            <a:ext cx="2831398" cy="2849588"/>
          </a:xfrm>
          <a:prstGeom prst="rect">
            <a:avLst/>
          </a:prstGeom>
        </p:spPr>
      </p:pic>
      <p:sp>
        <p:nvSpPr>
          <p:cNvPr id="5" name="Title 3">
            <a:extLst>
              <a:ext uri="{FF2B5EF4-FFF2-40B4-BE49-F238E27FC236}">
                <a16:creationId xmlns:a16="http://schemas.microsoft.com/office/drawing/2014/main" id="{32AB7B41-CF98-1212-9C72-1CC9855BFE40}"/>
              </a:ext>
            </a:extLst>
          </p:cNvPr>
          <p:cNvSpPr txBox="1">
            <a:spLocks/>
          </p:cNvSpPr>
          <p:nvPr/>
        </p:nvSpPr>
        <p:spPr>
          <a:xfrm>
            <a:off x="2041072" y="-92657"/>
            <a:ext cx="6786305" cy="7421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Supercooled ocean grid-points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83AB07-0D43-9741-D9E0-40DA1AD5BB1B}"/>
              </a:ext>
            </a:extLst>
          </p:cNvPr>
          <p:cNvSpPr txBox="1"/>
          <p:nvPr/>
        </p:nvSpPr>
        <p:spPr>
          <a:xfrm>
            <a:off x="201167" y="4262752"/>
            <a:ext cx="6651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latin typeface="Aptos" panose="020B0004020202020204" pitchFamily="34" charset="0"/>
              </a:rPr>
              <a:t>For a freezing temperature of -2.67 C, would need salinity of above 40 g/kg.</a:t>
            </a:r>
          </a:p>
          <a:p>
            <a:r>
              <a:rPr lang="en-GB" sz="1500" dirty="0">
                <a:latin typeface="Aptos" panose="020B0004020202020204" pitchFamily="34" charset="0"/>
              </a:rPr>
              <a:t>So the ocean is persistently supercooled at this point…</a:t>
            </a:r>
          </a:p>
        </p:txBody>
      </p:sp>
    </p:spTree>
    <p:extLst>
      <p:ext uri="{BB962C8B-B14F-4D97-AF65-F5344CB8AC3E}">
        <p14:creationId xmlns:p14="http://schemas.microsoft.com/office/powerpoint/2010/main" val="342541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A83194-A613-06DA-3D86-4BA692963E93}"/>
              </a:ext>
            </a:extLst>
          </p:cNvPr>
          <p:cNvSpPr txBox="1">
            <a:spLocks/>
          </p:cNvSpPr>
          <p:nvPr/>
        </p:nvSpPr>
        <p:spPr>
          <a:xfrm>
            <a:off x="2041072" y="-92657"/>
            <a:ext cx="6786305" cy="7421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Supercooled ocean grid-points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E83A19-9E5D-B8F9-9FA3-AC3B9DFD51F1}"/>
              </a:ext>
            </a:extLst>
          </p:cNvPr>
          <p:cNvSpPr txBox="1"/>
          <p:nvPr/>
        </p:nvSpPr>
        <p:spPr>
          <a:xfrm>
            <a:off x="275396" y="839912"/>
            <a:ext cx="83774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What we know:</a:t>
            </a:r>
          </a:p>
          <a:p>
            <a:endParaRPr lang="en-GB" sz="16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The supercooled ocean surface temperature grid-point occurs in the GOSI10.beta.4 release (NEMO5, without any sea ice updates) but not in NEMO4.2.2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New sea ice dynamics (incl. strength scheme based on ridging) impacted by this but not previous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This is not a problem with the start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It does not appear to be an issue with the atmospheric forcing (but the response to the ocean behaviour can be seen in the fluxes)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The supercooled ocean is causing the ice to grow via basal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Ocean low temperature comes in very quickly - appears on day 1 (have not looked at timestep level)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Potentially happening in other regions too, but with less impact on the sea 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Bathymetry very steep at this location. Looked odd too but smoothing this out did not help the problem</a:t>
            </a:r>
          </a:p>
        </p:txBody>
      </p:sp>
    </p:spTree>
    <p:extLst>
      <p:ext uri="{BB962C8B-B14F-4D97-AF65-F5344CB8AC3E}">
        <p14:creationId xmlns:p14="http://schemas.microsoft.com/office/powerpoint/2010/main" val="3179068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95FD-A475-D3DD-0FC6-637C07D8C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5539FA-6AEA-3E0B-1BF3-433571A0F427}"/>
              </a:ext>
            </a:extLst>
          </p:cNvPr>
          <p:cNvSpPr txBox="1">
            <a:spLocks/>
          </p:cNvSpPr>
          <p:nvPr/>
        </p:nvSpPr>
        <p:spPr>
          <a:xfrm>
            <a:off x="2041072" y="-92657"/>
            <a:ext cx="6786305" cy="7421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Supercooled ocean grid-points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94EE57-5BD8-AB62-354A-6125BAB15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935" y="1152101"/>
            <a:ext cx="3771442" cy="2978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9C5FFE-9738-CECD-5CF3-BAA0DFBFEE82}"/>
              </a:ext>
            </a:extLst>
          </p:cNvPr>
          <p:cNvSpPr txBox="1"/>
          <p:nvPr/>
        </p:nvSpPr>
        <p:spPr>
          <a:xfrm>
            <a:off x="5073251" y="4143526"/>
            <a:ext cx="3465447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350" dirty="0" err="1">
                <a:solidFill>
                  <a:prstClr val="black"/>
                </a:solidFill>
                <a:latin typeface="Aptos" panose="02110004020202020204"/>
              </a:rPr>
              <a:t>bathy_metry</a:t>
            </a:r>
            <a:r>
              <a:rPr lang="en-GB" sz="1350" dirty="0">
                <a:solidFill>
                  <a:prstClr val="black"/>
                </a:solidFill>
                <a:latin typeface="Aptos" panose="02110004020202020204"/>
              </a:rPr>
              <a:t> in domain_cfg_GOSI10p3_CanadaArchEdit.nc</a:t>
            </a:r>
          </a:p>
          <a:p>
            <a:pPr defTabSz="685800"/>
            <a:r>
              <a:rPr lang="en-GB" sz="1350" dirty="0">
                <a:solidFill>
                  <a:prstClr val="black"/>
                </a:solidFill>
                <a:latin typeface="Aptos" panose="02110004020202020204"/>
              </a:rPr>
              <a:t>file produced by Dave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4A20C2-FBB5-57E0-2689-065384505F04}"/>
              </a:ext>
            </a:extLst>
          </p:cNvPr>
          <p:cNvSpPr txBox="1"/>
          <p:nvPr/>
        </p:nvSpPr>
        <p:spPr>
          <a:xfrm>
            <a:off x="7277701" y="2968207"/>
            <a:ext cx="144486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Aptos" panose="02110004020202020204"/>
              </a:rPr>
              <a:t>Ellesmere Island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FFD084-117D-F063-AB8E-E826B697445C}"/>
              </a:ext>
            </a:extLst>
          </p:cNvPr>
          <p:cNvSpPr txBox="1"/>
          <p:nvPr/>
        </p:nvSpPr>
        <p:spPr>
          <a:xfrm>
            <a:off x="5663348" y="2190492"/>
            <a:ext cx="1101803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350" dirty="0">
                <a:solidFill>
                  <a:prstClr val="black"/>
                </a:solidFill>
                <a:latin typeface="Aptos" panose="02110004020202020204"/>
              </a:rPr>
              <a:t>Axel Heiberg </a:t>
            </a:r>
          </a:p>
          <a:p>
            <a:pPr defTabSz="685800"/>
            <a:r>
              <a:rPr lang="en-GB" sz="1350" dirty="0">
                <a:solidFill>
                  <a:prstClr val="black"/>
                </a:solidFill>
                <a:latin typeface="Aptos" panose="02110004020202020204"/>
              </a:rPr>
              <a:t>Island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3FC086-1AD1-97E7-8B10-52FD6BD14BFE}"/>
              </a:ext>
            </a:extLst>
          </p:cNvPr>
          <p:cNvSpPr txBox="1"/>
          <p:nvPr/>
        </p:nvSpPr>
        <p:spPr>
          <a:xfrm>
            <a:off x="5257115" y="750777"/>
            <a:ext cx="346544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350" dirty="0">
                <a:solidFill>
                  <a:prstClr val="black"/>
                </a:solidFill>
                <a:latin typeface="Aptos" panose="02110004020202020204"/>
              </a:rPr>
              <a:t>Updated bathymetry, 0-500 m depth shown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F279EF7-192C-5D17-0E8B-756634C135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923" t="3905" r="6644" b="6795"/>
          <a:stretch>
            <a:fillRect/>
          </a:stretch>
        </p:blipFill>
        <p:spPr>
          <a:xfrm>
            <a:off x="421437" y="1191423"/>
            <a:ext cx="3564533" cy="29575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710BF6F-6EF8-D64B-47F8-3860805940A7}"/>
              </a:ext>
            </a:extLst>
          </p:cNvPr>
          <p:cNvSpPr txBox="1"/>
          <p:nvPr/>
        </p:nvSpPr>
        <p:spPr>
          <a:xfrm>
            <a:off x="2373033" y="2925804"/>
            <a:ext cx="144486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Aptos" panose="02110004020202020204"/>
              </a:rPr>
              <a:t>Ellesmere Island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BCE864-29BB-E2D1-B810-D15CF8CB2737}"/>
              </a:ext>
            </a:extLst>
          </p:cNvPr>
          <p:cNvSpPr txBox="1"/>
          <p:nvPr/>
        </p:nvSpPr>
        <p:spPr>
          <a:xfrm>
            <a:off x="939269" y="2213959"/>
            <a:ext cx="1101803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350" dirty="0">
                <a:solidFill>
                  <a:prstClr val="black"/>
                </a:solidFill>
                <a:latin typeface="Aptos" panose="02110004020202020204"/>
              </a:rPr>
              <a:t>Axel Heiberg </a:t>
            </a:r>
          </a:p>
          <a:p>
            <a:pPr defTabSz="685800"/>
            <a:r>
              <a:rPr lang="en-GB" sz="1350" dirty="0">
                <a:solidFill>
                  <a:prstClr val="black"/>
                </a:solidFill>
                <a:latin typeface="Aptos" panose="02110004020202020204"/>
              </a:rPr>
              <a:t>Island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84E7BD-6DFF-1FC6-1D65-025C3B42C01B}"/>
              </a:ext>
            </a:extLst>
          </p:cNvPr>
          <p:cNvSpPr txBox="1"/>
          <p:nvPr/>
        </p:nvSpPr>
        <p:spPr>
          <a:xfrm>
            <a:off x="520522" y="644270"/>
            <a:ext cx="346544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350" dirty="0">
                <a:solidFill>
                  <a:prstClr val="black"/>
                </a:solidFill>
                <a:latin typeface="Aptos" panose="02110004020202020204"/>
              </a:rPr>
              <a:t>Original GOSI10 bathymetry, 0-500 m depth shown, large gradient at this location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ED2E9C-82AC-91D9-DFA9-E1E511469809}"/>
              </a:ext>
            </a:extLst>
          </p:cNvPr>
          <p:cNvSpPr txBox="1"/>
          <p:nvPr/>
        </p:nvSpPr>
        <p:spPr>
          <a:xfrm>
            <a:off x="451326" y="4227579"/>
            <a:ext cx="346544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pt-BR" sz="1350" dirty="0">
                <a:solidFill>
                  <a:prstClr val="black"/>
                </a:solidFill>
                <a:latin typeface="Aptos" panose="02110004020202020204"/>
              </a:rPr>
              <a:t>GOSI10 default</a:t>
            </a:r>
            <a:endParaRPr lang="en-GB" sz="135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FD52AE0-15DB-7805-B8A7-299ADD6E49B0}"/>
              </a:ext>
            </a:extLst>
          </p:cNvPr>
          <p:cNvSpPr/>
          <p:nvPr/>
        </p:nvSpPr>
        <p:spPr>
          <a:xfrm>
            <a:off x="2098815" y="1841052"/>
            <a:ext cx="548435" cy="70723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80B99DC-D955-2B1E-2672-7AEEEB500480}"/>
              </a:ext>
            </a:extLst>
          </p:cNvPr>
          <p:cNvSpPr/>
          <p:nvPr/>
        </p:nvSpPr>
        <p:spPr>
          <a:xfrm>
            <a:off x="6808675" y="1901048"/>
            <a:ext cx="548435" cy="70723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8041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60B3C-75A9-3ECD-4DC2-7C3D62B3C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5D09AE-F5A7-B91B-281A-2ABEC46BD869}"/>
              </a:ext>
            </a:extLst>
          </p:cNvPr>
          <p:cNvSpPr txBox="1">
            <a:spLocks/>
          </p:cNvSpPr>
          <p:nvPr/>
        </p:nvSpPr>
        <p:spPr>
          <a:xfrm>
            <a:off x="2041072" y="-92657"/>
            <a:ext cx="6786305" cy="7421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Supercooled ocean grid-points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AE275C-486C-1684-09E5-19D514F7227D}"/>
              </a:ext>
            </a:extLst>
          </p:cNvPr>
          <p:cNvSpPr txBox="1"/>
          <p:nvPr/>
        </p:nvSpPr>
        <p:spPr>
          <a:xfrm>
            <a:off x="432852" y="927332"/>
            <a:ext cx="8278296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Theories?</a:t>
            </a:r>
          </a:p>
          <a:p>
            <a:endParaRPr lang="en-GB" sz="1600" dirty="0">
              <a:latin typeface="Aptos" panose="020B0004020202020204" pitchFamily="34" charset="0"/>
            </a:endParaRPr>
          </a:p>
          <a:p>
            <a:r>
              <a:rPr lang="en-GB" sz="1600" dirty="0">
                <a:latin typeface="Aptos" panose="020B0004020202020204" pitchFamily="34" charset="0"/>
              </a:rPr>
              <a:t>There is a known, similar-looking issue in the coastal ocean configuration, where steep bathymetry can affect surface points in a non-conservation issue. This appears in the context of wetting and drying.</a:t>
            </a:r>
          </a:p>
          <a:p>
            <a:endParaRPr lang="en-GB" sz="1600" dirty="0">
              <a:latin typeface="Aptos" panose="020B0004020202020204" pitchFamily="34" charset="0"/>
            </a:endParaRPr>
          </a:p>
          <a:p>
            <a:r>
              <a:rPr lang="en-GB" sz="1600" dirty="0">
                <a:latin typeface="Aptos" panose="020B0004020202020204" pitchFamily="34" charset="0"/>
              </a:rPr>
              <a:t>There is a fix for this but it is only applicable for terrain-following co-ordinates</a:t>
            </a:r>
          </a:p>
          <a:p>
            <a:endParaRPr lang="en-GB" sz="1600" dirty="0">
              <a:latin typeface="Aptos" panose="020B0004020202020204" pitchFamily="34" charset="0"/>
            </a:endParaRPr>
          </a:p>
          <a:p>
            <a:r>
              <a:rPr lang="en-GB" sz="1600" dirty="0">
                <a:latin typeface="Aptos" panose="020B0004020202020204" pitchFamily="34" charset="0"/>
              </a:rPr>
              <a:t>To quote Dave: “We could implement it in ZPS coordinates but it wouldn't change the answer very much. So probably not a candidate for fixing your problem.”</a:t>
            </a:r>
          </a:p>
          <a:p>
            <a:endParaRPr lang="en-GB" sz="1600" dirty="0">
              <a:latin typeface="Aptos" panose="020B0004020202020204" pitchFamily="34" charset="0"/>
            </a:endParaRPr>
          </a:p>
          <a:p>
            <a:r>
              <a:rPr lang="en-GB" sz="1600" dirty="0">
                <a:latin typeface="Aptos" panose="020B0004020202020204" pitchFamily="34" charset="0"/>
              </a:rPr>
              <a:t>Any other ideas??</a:t>
            </a:r>
          </a:p>
        </p:txBody>
      </p:sp>
    </p:spTree>
    <p:extLst>
      <p:ext uri="{BB962C8B-B14F-4D97-AF65-F5344CB8AC3E}">
        <p14:creationId xmlns:p14="http://schemas.microsoft.com/office/powerpoint/2010/main" val="1785110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79A590-8E08-4465-887C-DBA24EF3F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50FBF1-A70B-30C2-D327-FD58F702E935}"/>
              </a:ext>
            </a:extLst>
          </p:cNvPr>
          <p:cNvSpPr txBox="1">
            <a:spLocks/>
          </p:cNvSpPr>
          <p:nvPr/>
        </p:nvSpPr>
        <p:spPr>
          <a:xfrm>
            <a:off x="2041072" y="-92657"/>
            <a:ext cx="6786305" cy="7421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Landfast ice: Instability along north fold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2C0242-77CA-021E-2E3D-240A1D96DDAB}"/>
              </a:ext>
            </a:extLst>
          </p:cNvPr>
          <p:cNvSpPr txBox="1"/>
          <p:nvPr/>
        </p:nvSpPr>
        <p:spPr>
          <a:xfrm>
            <a:off x="173140" y="594980"/>
            <a:ext cx="879771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400" dirty="0">
                <a:latin typeface="Aptos" panose="020B0004020202020204" pitchFamily="34" charset="0"/>
              </a:rPr>
              <a:t>This required an additional fix to an issue already identified and fixed by Daley:</a:t>
            </a:r>
          </a:p>
          <a:p>
            <a:pPr defTabSz="685800"/>
            <a:endParaRPr lang="en-GB" sz="1400" dirty="0">
              <a:latin typeface="Aptos" panose="020B0004020202020204" pitchFamily="34" charset="0"/>
            </a:endParaRPr>
          </a:p>
          <a:p>
            <a:pPr defTabSz="685800"/>
            <a:r>
              <a:rPr lang="en-GB" sz="1400" dirty="0">
                <a:latin typeface="Aptos" panose="020B0004020202020204" pitchFamily="34" charset="0"/>
              </a:rPr>
              <a:t>The eastern half of the northernmost row of “inner” domain (non-halo points, shaded in diagram) also considered part of the north fold. However, these points are not normally updated by </a:t>
            </a:r>
            <a:r>
              <a:rPr lang="en-GB" sz="1400" dirty="0" err="1">
                <a:latin typeface="Consolas" panose="020B0609020204030204" pitchFamily="49" charset="0"/>
              </a:rPr>
              <a:t>lbc_lnk</a:t>
            </a:r>
            <a:r>
              <a:rPr lang="en-GB" sz="1400" dirty="0">
                <a:latin typeface="Aptos" panose="020B0004020202020204" pitchFamily="34" charset="0"/>
              </a:rPr>
              <a:t>, resulting in instabilities building up in the iterative solver of the sea ice rheology code.</a:t>
            </a:r>
          </a:p>
          <a:p>
            <a:pPr defTabSz="685800"/>
            <a:endParaRPr lang="en-GB" sz="1400" dirty="0">
              <a:latin typeface="Arial" panose="020B0604020202020204" pitchFamily="34" charset="0"/>
            </a:endParaRPr>
          </a:p>
          <a:p>
            <a:pPr defTabSz="685800"/>
            <a:r>
              <a:rPr lang="en-GB" sz="1400" dirty="0">
                <a:latin typeface="Aptos" panose="020B0004020202020204" pitchFamily="34" charset="0"/>
              </a:rPr>
              <a:t>Daley's fix: set </a:t>
            </a:r>
            <a:r>
              <a:rPr lang="en-GB" sz="1400" dirty="0" err="1">
                <a:latin typeface="Consolas" panose="020B0609020204030204" pitchFamily="49" charset="0"/>
              </a:rPr>
              <a:t>ldfull</a:t>
            </a:r>
            <a:r>
              <a:rPr lang="en-GB" sz="1400" dirty="0">
                <a:latin typeface="Consolas" panose="020B0609020204030204" pitchFamily="49" charset="0"/>
              </a:rPr>
              <a:t>=.true.</a:t>
            </a:r>
            <a:r>
              <a:rPr lang="en-GB" sz="1400" dirty="0">
                <a:latin typeface="Arial" panose="020B0604020202020204" pitchFamily="34" charset="0"/>
              </a:rPr>
              <a:t> </a:t>
            </a:r>
            <a:r>
              <a:rPr lang="en-GB" sz="1400" dirty="0">
                <a:latin typeface="Aptos" panose="020B0004020202020204" pitchFamily="34" charset="0"/>
              </a:rPr>
              <a:t>in</a:t>
            </a:r>
            <a:r>
              <a:rPr lang="en-GB" sz="1400" dirty="0">
                <a:latin typeface="Arial" panose="020B0604020202020204" pitchFamily="34" charset="0"/>
              </a:rPr>
              <a:t> </a:t>
            </a:r>
            <a:r>
              <a:rPr lang="en-GB" sz="1400" dirty="0" err="1">
                <a:latin typeface="Consolas" panose="020B0609020204030204" pitchFamily="49" charset="0"/>
              </a:rPr>
              <a:t>lbc_lnk</a:t>
            </a:r>
            <a:r>
              <a:rPr lang="en-GB" sz="1400" dirty="0">
                <a:latin typeface="Arial" panose="020B0604020202020204" pitchFamily="34" charset="0"/>
              </a:rPr>
              <a:t> </a:t>
            </a:r>
            <a:r>
              <a:rPr lang="en-GB" sz="1400" dirty="0">
                <a:latin typeface="Aptos" panose="020B0004020202020204" pitchFamily="34" charset="0"/>
              </a:rPr>
              <a:t>calls of rheology </a:t>
            </a:r>
            <a:r>
              <a:rPr lang="en-GB" sz="1400" dirty="0" err="1">
                <a:latin typeface="Aptos" panose="020B0004020202020204" pitchFamily="34" charset="0"/>
              </a:rPr>
              <a:t>subcycling</a:t>
            </a:r>
            <a:endParaRPr lang="en-GB" sz="1400" dirty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4681CB-7B8F-E01B-34F7-EC29CD2FC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56" y="2356306"/>
            <a:ext cx="3473231" cy="25854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C77858-4134-909C-C896-4BF7472F6856}"/>
              </a:ext>
            </a:extLst>
          </p:cNvPr>
          <p:cNvSpPr txBox="1"/>
          <p:nvPr/>
        </p:nvSpPr>
        <p:spPr>
          <a:xfrm>
            <a:off x="4206630" y="2356306"/>
            <a:ext cx="47642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400" dirty="0">
                <a:latin typeface="Aptos" panose="020B0004020202020204" pitchFamily="34" charset="0"/>
              </a:rPr>
              <a:t>Ensures that all points on the north fold are set by </a:t>
            </a:r>
            <a:r>
              <a:rPr lang="en-GB" sz="1400" dirty="0" err="1">
                <a:latin typeface="Consolas" panose="020B0609020204030204" pitchFamily="49" charset="0"/>
              </a:rPr>
              <a:t>lbc_lnk</a:t>
            </a:r>
            <a:r>
              <a:rPr lang="en-GB" sz="1400" dirty="0">
                <a:latin typeface="Aptos" panose="020B0004020202020204" pitchFamily="34" charset="0"/>
              </a:rPr>
              <a:t>, not just the halo points.</a:t>
            </a:r>
          </a:p>
          <a:p>
            <a:pPr defTabSz="685800"/>
            <a:endParaRPr lang="en-GB" sz="1400" dirty="0">
              <a:latin typeface="Arial" panose="020B0604020202020204" pitchFamily="34" charset="0"/>
            </a:endParaRPr>
          </a:p>
          <a:p>
            <a:pPr defTabSz="685800"/>
            <a:r>
              <a:rPr lang="en-GB" sz="1400" dirty="0">
                <a:latin typeface="Aptos" panose="020B0004020202020204" pitchFamily="34" charset="0"/>
              </a:rPr>
              <a:t>This was initially done only for the final rheology </a:t>
            </a:r>
            <a:r>
              <a:rPr lang="en-GB" sz="1400" dirty="0" err="1">
                <a:latin typeface="Aptos" panose="020B0004020202020204" pitchFamily="34" charset="0"/>
              </a:rPr>
              <a:t>subcycle</a:t>
            </a:r>
            <a:r>
              <a:rPr lang="en-GB" sz="1400" dirty="0">
                <a:latin typeface="Arial" panose="020B0604020202020204" pitchFamily="34" charset="0"/>
              </a:rPr>
              <a:t>.</a:t>
            </a:r>
          </a:p>
          <a:p>
            <a:pPr defTabSz="685800"/>
            <a:endParaRPr lang="en-GB" sz="1400" dirty="0">
              <a:latin typeface="Arial" panose="020B0604020202020204" pitchFamily="34" charset="0"/>
            </a:endParaRPr>
          </a:p>
          <a:p>
            <a:pPr defTabSz="685800"/>
            <a:r>
              <a:rPr lang="en-GB" sz="1400" dirty="0">
                <a:latin typeface="Aptos" panose="020B0004020202020204" pitchFamily="34" charset="0"/>
              </a:rPr>
              <a:t>However, for the landfast ice scheme, this has proved insufficient. Instead, now performed on all </a:t>
            </a:r>
            <a:r>
              <a:rPr lang="en-GB" sz="1400" dirty="0" err="1">
                <a:latin typeface="Aptos" panose="020B0004020202020204" pitchFamily="34" charset="0"/>
              </a:rPr>
              <a:t>subcycles</a:t>
            </a:r>
            <a:r>
              <a:rPr lang="en-GB" sz="1400" dirty="0">
                <a:latin typeface="Aptos" panose="020B0004020202020204" pitchFamily="34" charset="0"/>
              </a:rPr>
              <a:t>, not just final one.</a:t>
            </a:r>
          </a:p>
          <a:p>
            <a:pPr defTabSz="685800"/>
            <a:endParaRPr lang="en-GB" sz="1400" dirty="0">
              <a:latin typeface="Aptos" panose="020B0004020202020204" pitchFamily="34" charset="0"/>
            </a:endParaRPr>
          </a:p>
          <a:p>
            <a:pPr defTabSz="685800"/>
            <a:r>
              <a:rPr lang="en-GB" sz="1400" dirty="0">
                <a:latin typeface="Aptos" panose="020B0004020202020204" pitchFamily="34" charset="0"/>
              </a:rPr>
              <a:t>This update is now in the GOSI10 main.</a:t>
            </a:r>
          </a:p>
        </p:txBody>
      </p:sp>
    </p:spTree>
    <p:extLst>
      <p:ext uri="{BB962C8B-B14F-4D97-AF65-F5344CB8AC3E}">
        <p14:creationId xmlns:p14="http://schemas.microsoft.com/office/powerpoint/2010/main" val="2744752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t Office">
      <a:dk1>
        <a:srgbClr val="2A2A2A"/>
      </a:dk1>
      <a:lt1>
        <a:srgbClr val="B9DC0C"/>
      </a:lt1>
      <a:dk2>
        <a:srgbClr val="2A2A2A"/>
      </a:dk2>
      <a:lt2>
        <a:srgbClr val="FFFFFF"/>
      </a:lt2>
      <a:accent1>
        <a:srgbClr val="50B9A4"/>
      </a:accent1>
      <a:accent2>
        <a:srgbClr val="007AA9"/>
      </a:accent2>
      <a:accent3>
        <a:srgbClr val="E47452"/>
      </a:accent3>
      <a:accent4>
        <a:srgbClr val="A1A0AA"/>
      </a:accent4>
      <a:accent5>
        <a:srgbClr val="FFFFFF"/>
      </a:accent5>
      <a:accent6>
        <a:srgbClr val="FFFFFF"/>
      </a:accent6>
      <a:hlink>
        <a:srgbClr val="0673F9"/>
      </a:hlink>
      <a:folHlink>
        <a:srgbClr val="6F2735"/>
      </a:folHlink>
    </a:clrScheme>
    <a:fontScheme name="Met 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idgingStabilityResults" id="{1664AA44-F0EA-4C7B-9A37-38B7732A1836}" vid="{E3CD2F5F-04B9-4188-B335-DE62DC3AF8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9e328b5-fd55-4aa2-9335-b42da031234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929D3C7B92654E91E0BACE58CAB3FC" ma:contentTypeVersion="10" ma:contentTypeDescription="Create a new document." ma:contentTypeScope="" ma:versionID="2bad72ae5038343c7a0bcb113027f55d">
  <xsd:schema xmlns:xsd="http://www.w3.org/2001/XMLSchema" xmlns:xs="http://www.w3.org/2001/XMLSchema" xmlns:p="http://schemas.microsoft.com/office/2006/metadata/properties" xmlns:ns3="39e328b5-fd55-4aa2-9335-b42da031234f" xmlns:ns4="d5f456a8-998e-4615-8aa7-08c9413f4944" targetNamespace="http://schemas.microsoft.com/office/2006/metadata/properties" ma:root="true" ma:fieldsID="b097988fac603786970ffab7c02858ec" ns3:_="" ns4:_="">
    <xsd:import namespace="39e328b5-fd55-4aa2-9335-b42da031234f"/>
    <xsd:import namespace="d5f456a8-998e-4615-8aa7-08c9413f494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e328b5-fd55-4aa2-9335-b42da03123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f456a8-998e-4615-8aa7-08c9413f494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58D549-B3F8-43CC-B3FE-B67AA58CE901}">
  <ds:schemaRefs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39e328b5-fd55-4aa2-9335-b42da031234f"/>
    <ds:schemaRef ds:uri="http://schemas.openxmlformats.org/package/2006/metadata/core-properties"/>
    <ds:schemaRef ds:uri="http://schemas.microsoft.com/office/2006/documentManagement/types"/>
    <ds:schemaRef ds:uri="d5f456a8-998e-4615-8aa7-08c9413f4944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406C606-7DD6-47E7-B98C-7711D320AD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e328b5-fd55-4aa2-9335-b42da031234f"/>
    <ds:schemaRef ds:uri="d5f456a8-998e-4615-8aa7-08c9413f49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9C1056C-469C-4F18-8696-8635F68B3E2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7f18161-20d7-4746-87fd-50fe3e3b6619}" enabled="0" method="" siteId="{17f18161-20d7-4746-87fd-50fe3e3b661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RidgingStabilityResults</Template>
  <TotalTime>1891</TotalTime>
  <Words>1195</Words>
  <Application>Microsoft Office PowerPoint</Application>
  <PresentationFormat>On-screen Show (16:9)</PresentationFormat>
  <Paragraphs>108</Paragraphs>
  <Slides>12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Consolas</vt:lpstr>
      <vt:lpstr>Courier New</vt:lpstr>
      <vt:lpstr>Office Theme</vt:lpstr>
      <vt:lpstr>Update on GOSI10 sea ice work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Met Office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Ridging, strength and  stability in GOSI10@NEMO4.2</dc:title>
  <dc:creator>Emma Fiedler</dc:creator>
  <cp:lastModifiedBy>Emma Fiedler</cp:lastModifiedBy>
  <cp:revision>99</cp:revision>
  <dcterms:created xsi:type="dcterms:W3CDTF">2024-07-15T15:38:40Z</dcterms:created>
  <dcterms:modified xsi:type="dcterms:W3CDTF">2025-11-18T16:35:19Z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0x0101006E929D3C7B92654E91E0BACE58CAB3FC</vt:lpwstr>
  </property>
</Properties>
</file>